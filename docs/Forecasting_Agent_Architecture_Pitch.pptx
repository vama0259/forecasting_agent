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3840480" cy="329184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EA5E9"/>
                </a:solidFill>
                <a:latin typeface="Segoe UI Semibold"/>
              </a:defRPr>
            </a:pPr>
            <a:r>
              <a:t>SYSTEM ARCHITECTURE • TECHNICAL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Forecasting Agent Architecture</a:t>
            </a:r>
          </a:p>
          <a:p>
            <a:pPr>
              <a:spcBef>
                <a:spcPts val="600"/>
              </a:spcBef>
              <a:defRPr sz="1900">
                <a:solidFill>
                  <a:srgbClr val="0EA5E9"/>
                </a:solidFill>
                <a:latin typeface="Segoe UI"/>
              </a:defRPr>
            </a:pPr>
            <a:r>
              <a:t>Autonomous Multi-Agent System Design, Sandboxing &amp; Calibration Protocol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728655" cy="123444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1018001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Segoe UI"/>
              </a:defRPr>
            </a:pPr>
            <a:r>
              <a:t>"Think Claude Code, but for financial and market analysis. Instead of chatting, our agents write and execute real Python code in Docker sandboxes, debate each other across 4 adversarial rounds, and grade themselves with an immutable mathematical oracle."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7720"/>
            <a:ext cx="3413455" cy="15087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617720"/>
            <a:ext cx="91440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75488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 Semibold"/>
              </a:defRPr>
            </a:pPr>
            <a:r>
              <a:t>01  TypeScript Harness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LangGraph.js orchestration, Zod schema validation &amp; Nunjucks template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617720"/>
            <a:ext cx="3413455" cy="15087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4617720"/>
            <a:ext cx="91440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75488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 Semibold"/>
              </a:defRPr>
            </a:pPr>
            <a:r>
              <a:t>02  Two-Tier Sandboxes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Warm CodeAct development + cold clean-room validation with Semaphore(2) gate.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617720"/>
            <a:ext cx="3413455" cy="1508760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4617720"/>
            <a:ext cx="91440" cy="1508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4754880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 Semibold"/>
              </a:defRPr>
            </a:pPr>
            <a:r>
              <a:t>03  Read-Only Oracle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Pure mathematical M8 scoring package isolated from agent tampering.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Forecasting Agent • Technical Architecture Deck • MVP 1 Specifications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SYSTEM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The 3 Core Architectural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Clean separation between orchestration harness, execution sandboxes, and immutable mathematical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134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41345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2956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 Semibold"/>
              </a:defRPr>
            </a:pPr>
            <a:r>
              <a:t>PILLAR 01 • ORCHESTRATION &amp; CAPABILITY LAYER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The Brain: TypeScript Harness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Built on `@langchain/langgraph` StateGraph for deterministic workflow routing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Strict Zod schema validation across all agent inputs, configs, and outputs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Capability Registry (ADR-015) decouples agent logic from concrete MCP providers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Non-blocking async I/O handles concurrent LLM and market data streams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134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41345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19"/>
            <a:ext cx="2956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 Semibold"/>
              </a:defRPr>
            </a:pPr>
            <a:r>
              <a:t>PILLAR 02 • ISOLATED CODEACT EXECUTION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The Workbench: Docker Sandboxes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Warm explore tier provides stateful Python workspace for self-debugging code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Cold validate tier runs `--network=none` with clean baseline images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Resource guards: 512MB RAM, 1 CPU cgroup, 45s hard timeout, 50KB ring buffer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`async-mutex` Semaphore(2) prevents concurrent Docker CPU/RAM thrashing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41345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874519"/>
            <a:ext cx="2956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Segoe UI Semibold"/>
              </a:defRPr>
            </a:pPr>
            <a:r>
              <a:t>PILLAR 03 • PURE GROUND-TRUTH EVALUATION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The Judge: Read-Only M8 Oracle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Isolated Python package (`src/forecasting_agent/evaluation/`)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Agents have zero write permissions to evaluation code or metric definitions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Evaluates MASE on returns, Brier probability calibration, and Sortino ratio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Purged walk-forward CV gate enforces mandatory embargo to prevent lookahead leakage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Technical Architecture Deck • MVP 1 Specifications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DATA INGESTION &amp; HYGIENE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Market Data Server (M1) &amp; Hampel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Python MCP Server architecture with deterministic anomaly rejection and calendar normalization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1783080"/>
            <a:ext cx="73152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 Semibold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37360"/>
            <a:ext cx="9235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Hampel Outlier Filter — Rolling 20-bar Median Absolute Deviation (MAD)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Uses `scipy.signal` to identify flash-crash spikes and circuit breaker freezes exceeding 3σ from rolling median. Outliers are clipped and flagged in bar metadata.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2926080"/>
            <a:ext cx="73152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 Semibold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880360"/>
            <a:ext cx="9235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Calendar Normalization — Multi-Asset Trading Clock Alignment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Harmonizes asynchronous exchange schedules (e.g. US market holidays vs Indian trading hours) with causal forward-fill, ensuring zero future information enters historical arrays.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4069080"/>
            <a:ext cx="73152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  <a:latin typeface="Segoe UI Semibold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023360"/>
            <a:ext cx="9235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Graceful Degradation — 3-Day Cached Fallback with Confidence Penalty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If live exchange scrapers fail or timeout, M1 serves validated 3-day cached Parquet bars, sets `data_stale=true`, and penalizes agent confidence by 30% rather than crashing.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7492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5212080"/>
            <a:ext cx="73152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8B5CF6"/>
                </a:solidFill>
                <a:latin typeface="Segoe UI Semibold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166360"/>
            <a:ext cx="9235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Point-in-Time Guard — Strict Temporal `as_of` Horizon Indexing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Every data slice is strictly bounded by `timestamp &lt;= as_of`. Requesting data beyond the backtest horizon triggers an immediate `LeakageError` exception.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Technical Architecture Deck • MVP 1 Specifications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AGENT SPECIALIZATION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Participant-Intent Modeling (M6)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Decomposing Indian market dynamics into 4 distinct institutional and retail behavioral forces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5146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Price Anchor Agent</a:t>
            </a:r>
          </a:p>
          <a:p>
            <a:pPr>
              <a:spcBef>
                <a:spcPts val="200"/>
              </a:spcBef>
              <a:defRPr sz="950" b="1">
                <a:solidFill>
                  <a:srgbClr val="2563EB"/>
                </a:solidFill>
                <a:latin typeface="Segoe UI Semibold"/>
              </a:defRPr>
            </a:pPr>
            <a:r>
              <a:t>Technical Baseline &amp; Trend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Models pure OHLCV price action, moving average bands, and volatility regimes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Implements ARIMA and Exponential Smoothing as statistical baselines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Serves as the control anchor for measuring informational alpha in M8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25146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19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FII Intent Agent</a:t>
            </a:r>
          </a:p>
          <a:p>
            <a:pPr>
              <a:spcBef>
                <a:spcPts val="200"/>
              </a:spcBef>
              <a:defRPr sz="950" b="1">
                <a:solidFill>
                  <a:srgbClr val="10B981"/>
                </a:solidFill>
                <a:latin typeface="Segoe UI Semibold"/>
              </a:defRPr>
            </a:pPr>
            <a:r>
              <a:t>Foreign Institutional Capital Flows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Models FII index future positioning, open interest buildup, and cash flows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Correlates USD/INR exchange rate trends and US 10-Year Treasury yields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Captures global macro risk-on / risk-off rotation signals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51460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DII Intent Agent</a:t>
            </a:r>
          </a:p>
          <a:p>
            <a:pPr>
              <a:spcBef>
                <a:spcPts val="200"/>
              </a:spcBef>
              <a:defRPr sz="950" b="1">
                <a:solidFill>
                  <a:srgbClr val="8B5CF6"/>
                </a:solidFill>
                <a:latin typeface="Segoe UI Semibold"/>
              </a:defRPr>
            </a:pPr>
            <a:r>
              <a:t>Domestic Institutional Absorption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Tracks domestic mutual fund SIP monthly inflows and liquidity depth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Computes Sector Relative Strength ratios: R_stock - R_sector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Models institutional rebalancing during index reconstitution cycles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645920"/>
            <a:ext cx="25146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645920"/>
            <a:ext cx="25146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874519"/>
            <a:ext cx="2148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Retail Intent Agent</a:t>
            </a:r>
          </a:p>
          <a:p>
            <a:pPr>
              <a:spcBef>
                <a:spcPts val="200"/>
              </a:spcBef>
              <a:defRPr sz="950" b="1">
                <a:solidFill>
                  <a:srgbClr val="F59E0B"/>
                </a:solidFill>
                <a:latin typeface="Segoe UI Semibold"/>
              </a:defRPr>
            </a:pPr>
            <a:r>
              <a:t>Retail Sentiment &amp; F&amp;O Activity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Analyzes Bhavcopy delivery percentage z-scores and Put-Call Ratios (PCR)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Applies FinBERT exponential recency decay to Indian business headlines</a:t>
            </a:r>
          </a:p>
          <a:p>
            <a:pPr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 Detects over-leveraged speculative retail buildup and short-squeeze risks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Technical Architecture Deck • MVP 1 Specifications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CONSENSUS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4-Round Adversarial Debate Protocol (M7)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StateGraph coordination breaking echo chambers and preventing sycophantic LLM agreement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251460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Segoe UI Semibold"/>
              </a:defRPr>
            </a:pPr>
            <a:r>
              <a:t>ROUND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Independent Analysis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Each sub-agent writes and runs code in Docker to produce an independent AgentSignal with `{claim, code, value}` triples.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459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645920"/>
            <a:ext cx="251460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64208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Segoe UI Semibold"/>
              </a:defRPr>
            </a:pPr>
            <a:r>
              <a:t>ROUND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3317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Cross-Examination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Agents inspect peer evidence triples. They execute counter-scripts in Docker to challenge conflicting hypotheses.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51460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664208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Segoe UI Semibold"/>
              </a:defRPr>
            </a:pPr>
            <a:r>
              <a:t>ROUND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317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Devil's Advocate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Supervisor identifies the weakest consensus point and forces the lowest-calibration agent to attack it aggressively.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645920"/>
            <a:ext cx="25146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61120" y="1645920"/>
            <a:ext cx="2514600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664208"/>
            <a:ext cx="2514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Segoe UI Semibold"/>
              </a:defRPr>
            </a:pPr>
            <a:r>
              <a:t>ROUND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331720"/>
            <a:ext cx="2148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 Semibold"/>
              </a:defRPr>
            </a:pPr>
            <a:r>
              <a:t>Arithmetic Consensus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Calculated in TypeScript code via rolling Brier weights clamped to [15%, 40%]. Emits calibrated scenario probabilities.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42432"/>
            <a:ext cx="1036289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 Semibold"/>
              </a:defRPr>
            </a:pPr>
            <a:r>
              <a:t>VOLATILITY SHOCK RULE: If trailing 5-day realized volatility exceeds 2x the 20-day mean, weights automatically reset to 25/25/25/25.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Technical Architecture Deck • MVP 1 Specifications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COMPUTE &amp; SANDBOXING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Two-Tier Docker Sandbox Infrastructure (M5)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Warm stateful scratchpad for CodeAct iteration vs clean-room cold container for final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Tier 1: Warm Explore Sandbox</a:t>
            </a:r>
          </a:p>
          <a:p>
            <a:pPr>
              <a:spcBef>
                <a:spcPts val="2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Rapid prototyping &amp; CodeAct self-debugging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Stateful Sessions: Preserves intermediate variables and cached feature matrices across debate rounds.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PyPI Access: Allows agents to pip install standard approved scientific wheels during exploration.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Strict Limits: 512MB RAM hard cgroup, 1 dedicated vCPU, and 45s hard execution timeout.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Ring Buffer: 50KB circular stdout/stderr buffer prevents terminal memory saturation.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24225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46936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Tier 2: Cold Validate Sandbox</a:t>
            </a:r>
          </a:p>
          <a:p>
            <a:pPr>
              <a:spcBef>
                <a:spcPts val="200"/>
              </a:spcBef>
              <a:defRPr sz="1100">
                <a:solidFill>
                  <a:srgbClr val="10B981"/>
                </a:solidFill>
                <a:latin typeface="Segoe UI"/>
              </a:defRPr>
            </a:pPr>
            <a:r>
              <a:t>Deterministic, leak-free mathematical validation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Zero Network: Strict `--network=none` flag mathematically prevents any live web data retrieval.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Pristine Image: Spawns from immutable base image; zero leftover state from exploratory scripts.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Read-Only M8: Evaluation harness mounted read-only (`:ro`); agent code cannot modify metric math.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Semaphore Guard: `async-mutex` Semaphore(2) enforces strict concurrency cap of 2 containers.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Technical Architecture Deck • MVP 1 Specifications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EVALUATION ORACLE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4-Layer Ground-Truth Evaluation Pipeline (M8)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Layered statistical gatekeeper preventing model overfitting, lookahead bias, and illusory profits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9728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1783080"/>
            <a:ext cx="137160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Segoe UI Semibold"/>
              </a:defRPr>
            </a:pPr>
            <a:r>
              <a:t>Layer 4 (Gate)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73736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Purged Walk-Forward Cross-Validation — VALIDITY CHECK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Executes FIRST. Enforces mandatory embargo gap between folds. Verifies no future data leaked into training sets. If violated, run is marked INVALID immediately.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78892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2926080"/>
            <a:ext cx="137160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Layer 1 (Accuracy)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88036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Mean Absolute Scaled Error (MASE) on Returns — OBJECTIVE FUNCTION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Measures forecast performance relative to a naive random-walk baseline. Any model generating MASE &gt;= 1.0 is rejected as having zero statistical edge.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5840" y="4069080"/>
            <a:ext cx="137160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  <a:latin typeface="Segoe UI Semibold"/>
              </a:defRPr>
            </a:pPr>
            <a:r>
              <a:t>Layer 2 (Honesty)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02336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Brier Score &amp; Calibration Curve Binning — PROBABILISTIC HONESTY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Measures whether an 80% confidence call wins 80% of the time across 10 probability bins. Penalizes uncalibrated overconfidence heavily in consensus weighting.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07492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5212080"/>
            <a:ext cx="1371600" cy="274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8B5CF6"/>
                </a:solidFill>
                <a:latin typeface="Segoe UI Semibold"/>
              </a:defRPr>
            </a:pPr>
            <a:r>
              <a:t>Layer 3 (Viability)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516636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Cost-Adjusted Sortino Net of Indian Friction — ECONOMIC REALITY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Deducts Indian equity &amp; derivative transaction costs (STT: 0.1%, Stamp Duty: 0.015%, GST: 18%, Exchange: 0.00345%) to ensure real-world strategy profitability.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Technical Architecture Deck • MVP 1 Specifications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PROMPT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Offline Prompt Compilation via DSPy (ADR-028)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Replacing fragile manual prompt engineering with Bayesian instruction proposal and zero-latency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134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41345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2956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 Semibold"/>
              </a:defRPr>
            </a:pPr>
            <a:r>
              <a:t>STAGE 01 • DSPY MIPROV2 OPTIMIZER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Offline Bayesian Opt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Evaluates 20 instruction candidates across 50 trials on historical Indian market regimes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Optimizes few-shot exemplar selection directly on Brier calibration metric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Compiles offline in Python with DeepSeek v4-flash for ~$0.48 one-time cost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Eliminates trial-and-error manual system prompt tweaking forever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134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41345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19"/>
            <a:ext cx="2956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8B5CF6"/>
                </a:solidFill>
                <a:latin typeface="Segoe UI Semibold"/>
              </a:defRPr>
            </a:pPr>
            <a:r>
              <a:t>STAGE 02 • IMMUTABLE TEMPLATE ARTIFACTS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Compiled JSON Schemas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Exports optimized instructions &amp; demonstrations to `prompts/compiled/`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Jinja2 template syntax shared seamlessly between Python &amp; TypeScript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Strict versioning (`fii_agent_v2.1.json`) ensures complete reproducibility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Enables continuous prompt CI/CD and zero-downtime prompt rollbacks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41345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874519"/>
            <a:ext cx="2956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 Semibold"/>
              </a:defRPr>
            </a:pPr>
            <a:r>
              <a:t>STAGE 03 • PRODUCTION HYDRATION IN TS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&lt; 1ms Nunjucks Engine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TypeScript harness loads compiled JSON templates via Nunjucks in &lt; 1ms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Zero Python runtime dependency during live production inference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Preserves 90%+ prefix cache hit rate on DeepSeek API endpoint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Fail-safe fallback to raw `.j2` template if compiled artifact is missing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Technical Architecture Deck • MVP 1 Specifications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MEMORY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Memory Architecture &amp; Temporal Guardrails (M9)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Tiered persistence preventing lookahead bias and guaranteeing historical backtest fidelity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9728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Tier 1: Working Memory — In-Context Prompt Window (1M Tokens)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Holds current turn instructions, active agent scratchpads, and immediate Python execution outputs within the LangGraph StateGraph.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88920"/>
            <a:ext cx="10972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8036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Tier 2: Session Memory — Redis Pub/Sub &amp; Ephemeral Cache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Tracks daily search rate limits, run-scoped cache, live SSE event streams, and inter-agent message buses.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Tier 3: Long-Term Memory — PostgreSQL Storage &amp; Temporal Index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Stores historical forecasts, full debate traces, and M8 evaluation scores with mandatory `created_at` and `as_of` timestamps.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074920"/>
            <a:ext cx="109728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66360"/>
            <a:ext cx="10241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  <a:latin typeface="Segoe UI Semibold"/>
              </a:defRPr>
            </a:pPr>
            <a:r>
              <a:t>Tier 4: Semantic Memory — pgvector Strategy &amp; Skill Embeddings</a:t>
            </a:r>
          </a:p>
          <a:p>
            <a:pPr>
              <a:spcBef>
                <a:spcPts val="3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Embeds past high-MASE forecasting scripts and regime transitions for few-shot in-context skill retrieval.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Technical Architecture Deck • MVP 1 Specifications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PRODUCTION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Operational Resilience &amp; Health Handshakes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Fail-fast diagnostics, circuit breakers, and 15-minute bar invalidation guardrails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134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41345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2956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 Semibold"/>
              </a:defRPr>
            </a:pPr>
            <a:r>
              <a:t>01 • FAIL-FAST HEALTH PROBE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&lt; 200ms Startup Handshake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Runs parallel ping probes to Postgres, Redis, Docker daemon, and MCP servers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Fails fast in &lt; 200ms with actionable error messages before consuming LLM tokens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Guarantees all external subsystems are healthy before launching debate loops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134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41345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19"/>
            <a:ext cx="2956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 Semibold"/>
              </a:defRPr>
            </a:pPr>
            <a:r>
              <a:t>02 • RESOURCE PROTECTION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Circuit Breakers &amp; Timeouts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45-second hard execution timeout on Docker Python containers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50KB circular ring buffer on stdout/stderr prevents terminal flooding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Daily 2,000-query token bucket rate limiter on DuckDuckGo and FinBERT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134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41345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874519"/>
            <a:ext cx="2956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 Semibold"/>
              </a:defRPr>
            </a:pPr>
            <a:r>
              <a:t>03 • EXECUTIVE INVALIDATION GUARDRAIL</a:t>
            </a:r>
          </a:p>
          <a:p>
            <a:pPr>
              <a:spcBef>
                <a:spcPts val="300"/>
              </a:spcBef>
              <a:defRPr sz="1400" b="1">
                <a:solidFill>
                  <a:srgbClr val="0F172A"/>
                </a:solidFill>
                <a:latin typeface="Segoe UI Semibold"/>
              </a:defRPr>
            </a:pPr>
            <a:r>
              <a:t>15-Min Bar Confirmation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1-page Executive Digest Card ignores sub-15-minute price spikes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Prevents false alarms caused by 30-second intraday liquidity wicks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Final daily report confirms signals against market closing auction bars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Technical Architecture Deck • MVP 1 Specifications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EEF2FF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563EB"/>
                </a:solidFill>
                <a:latin typeface="Segoe UI Semibold"/>
              </a:defRPr>
            </a:pPr>
            <a:r>
              <a:t>INFRASTRUCTURE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t>Unit Economics &amp; Infrastructure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Sub-3-cent marginal cost per forecast run enables high-frequency multi-asset coverage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Forecast Marginal Economics</a:t>
            </a:r>
          </a:p>
          <a:p>
            <a:pPr>
              <a:spcBef>
                <a:spcPts val="400"/>
              </a:spcBef>
              <a:defRPr sz="3600" b="1">
                <a:solidFill>
                  <a:srgbClr val="10B981"/>
                </a:solidFill>
                <a:latin typeface="Segoe UI Semibold"/>
              </a:defRPr>
            </a:pPr>
            <a:r>
              <a:t>$0.024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Per Full 4-Round Multi-Agent Forecast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LLM Inference (DeepSeek): 4 rounds x 4 agents = 16 turns (~65k prompt tokens, 8k output tokens) = $0.018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Docker Sandbox Compute: 0.2 CPU-hours of execution time = $0.004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News &amp; Web Scraping: Open-source DuckDuckGo &amp; FinBERT = $0.000</a:t>
            </a:r>
          </a:p>
          <a:p>
            <a:pPr>
              <a:spcBef>
                <a:spcPts val="6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Storage &amp; Tracing: Postgres + Redis + Langfuse = $0.002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24225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469361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 Semibold"/>
              </a:defRPr>
            </a:pPr>
            <a:r>
              <a:t>100% Open-Source Foundation</a:t>
            </a:r>
          </a:p>
          <a:p>
            <a:pPr>
              <a:spcBef>
                <a:spcPts val="200"/>
              </a:spcBef>
              <a:defRPr sz="1100">
                <a:solidFill>
                  <a:srgbClr val="2563EB"/>
                </a:solidFill>
                <a:latin typeface="Segoe UI"/>
              </a:defRPr>
            </a:pPr>
            <a:r>
              <a:t>Zero proprietary vendor lock-in; deployable on private enterprise VPCs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Orchestrator Layer: @langchain/langgraph &amp; TypeScript StateGraph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Data Protocol: Python Model Context Protocol (MCP) + yfinance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Compute Sandboxes: Docker Engine with cgroups memory isolation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Evaluation Core: scipy, statsmodels, pandas, scikit-learn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Observability: Langfuse Open-Source Tracing + UUIDv7 Hierarchy</a:t>
            </a:r>
          </a:p>
          <a:p>
            <a:pPr>
              <a:spcBef>
                <a:spcPts val="800"/>
              </a:spcBef>
              <a:defRPr sz="1050" b="0">
                <a:solidFill>
                  <a:srgbClr val="334155"/>
                </a:solidFill>
                <a:latin typeface="Segoe UI"/>
              </a:defRPr>
            </a:pPr>
            <a:r>
              <a:t>• Database &amp; Cache: PostgreSQL with temporal as_of indexing + Redis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Forecasting Agent • Technical Architecture Deck • MVP 1 Specifications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Segoe UI"/>
              </a:defRPr>
            </a:pPr>
            <a:r>
              <a:t>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84048"/>
            <a:ext cx="3108960" cy="292608"/>
          </a:xfrm>
          <a:prstGeom prst="roundRect">
            <a:avLst/>
          </a:prstGeom>
          <a:solidFill>
            <a:srgbClr val="14233C"/>
          </a:solidFill>
          <a:ln w="9525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EA5E9"/>
                </a:solidFill>
                <a:latin typeface="Segoe UI Semibold"/>
              </a:defRPr>
            </a:pPr>
            <a:r>
              <a:t>LONG-TERM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94944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 Semibold"/>
              </a:defRPr>
            </a:pPr>
            <a:r>
              <a:t>The Vision: Claude Code for Industry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0700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An autonomous coding platform that adapts to any forecasting domain through specialized skill packs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42255" cy="1874519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109728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01  Financial Markets (MVP 1)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Indian Equities, Nifty 50, and F&amp;O derivatives with FII/DII liquidity flow modeling.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42255" cy="1874519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109728" cy="18745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02  Supply Chain &amp; Operations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Multi-echelon demand forecasting, port congestion delays, and safety stock optimization.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242255" cy="1874519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109728" cy="1874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19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03  Energy &amp; Commodities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Renewable power grid load, crude oil crack spreads, and weather-adjusted load forecasting.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49039"/>
            <a:ext cx="5242255" cy="1874519"/>
          </a:xfrm>
          <a:prstGeom prst="roundRect">
            <a:avLst/>
          </a:prstGeom>
          <a:solidFill>
            <a:srgbClr val="0F1A2E"/>
          </a:solidFill>
          <a:ln w="12700">
            <a:solidFill>
              <a:srgbClr val="1E3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749039"/>
            <a:ext cx="109728" cy="1874519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19"/>
            <a:ext cx="4709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 Semibold"/>
              </a:defRPr>
            </a:pPr>
            <a:r>
              <a:t>04  Enterprise FP&amp;A</a:t>
            </a:r>
          </a:p>
          <a:p>
            <a:pPr>
              <a:spcBef>
                <a:spcPts val="600"/>
              </a:spcBef>
              <a:defRPr sz="1150">
                <a:solidFill>
                  <a:srgbClr val="CBD5E1"/>
                </a:solidFill>
                <a:latin typeface="Segoe UI"/>
              </a:defRPr>
            </a:pPr>
            <a:r>
              <a:t>Automated ERP integration (SAP/NetSuite), ARR churn modeling, and 13-week cash runway scenarios.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742432"/>
            <a:ext cx="1036289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 Semibold"/>
              </a:defRPr>
            </a:pPr>
            <a:r>
              <a:t>MILESTONE STATUS: MVP 1 (Indian Equities) • 10 User Stories Tracked on GitHub • Target Alpha Release: v0.1.0-alpha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400800"/>
            <a:ext cx="10728655" cy="13716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55664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Forecasting Agent • Technical Architecture Deck • MVP 1 Specifications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16975" y="645566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  <a:latin typeface="Segoe UI"/>
              </a:defRPr>
            </a:pPr>
            <a:r>
              <a:t>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