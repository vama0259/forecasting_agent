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3657600" cy="329184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 Semibold"/>
              </a:defRPr>
            </a:pPr>
            <a:r>
              <a:t>AUTONOMOUS AGENT PLATFORM • FINANCIAL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 Semibold"/>
              </a:defRPr>
            </a:pPr>
            <a:r>
              <a:t>Forecasting Agent</a:t>
            </a:r>
          </a:p>
          <a:p>
            <a:pPr>
              <a:spcBef>
                <a:spcPts val="600"/>
              </a:spcBef>
              <a:defRPr sz="2000">
                <a:solidFill>
                  <a:srgbClr val="0EA5E9"/>
                </a:solidFill>
                <a:latin typeface="Segoe UI"/>
              </a:defRPr>
            </a:pPr>
            <a:r>
              <a:t>Claude Code for Financial Markets &amp; Enterprise Forecasting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728655" cy="12344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10180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An autonomous multi-agent platform where specialized AI analysts write, execute, and stress-test custom Python models in secure Docker sandboxes — arriving at statistically calibrated market consensus through 4 rounds of adversarial debate, governed by an immutable mathematical oracle.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3413455" cy="15087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617720"/>
            <a:ext cx="9144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 Semibold"/>
              </a:defRPr>
            </a:pPr>
            <a:r>
              <a:t>01  Autonomous CodeAct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Agents write &amp; execute real Python scripts inside isolated Docker containers.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617720"/>
            <a:ext cx="3413455" cy="15087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4617720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75488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 Semibold"/>
              </a:defRPr>
            </a:pPr>
            <a:r>
              <a:t>02  Adversarial Debate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4-round protocol with hard Devil's Advocate eliminates LLM sycophancy.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617720"/>
            <a:ext cx="3413455" cy="15087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4617720"/>
            <a:ext cx="91440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75488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 Semibold"/>
              </a:defRPr>
            </a:pPr>
            <a:r>
              <a:t>03  Immutable Oracle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Ground-truth evaluation engine (MASE &amp; Brier) with zero lookahead bias.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Forecasting Agent • Strategic Pitch Deck • MVP 1 Specifications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MARKET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The Financial Intelligence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Why existing generative AI chatbots and static statistical pipelines fail at real-world forecasting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41345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F4444"/>
                </a:solidFill>
                <a:latin typeface="Segoe UI Semibold"/>
              </a:defRPr>
            </a:pPr>
            <a:r>
              <a:t>PROBLEM 01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Chatbots Guess Direction Without Math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Generate predictions purely from text tokens without calculating equations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Uncalibrated confidence (claim 90% certainty on coin-flip scenarios)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Prone to lookahead bias and temporal data leakage during backtests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Zero ability to self-debug syntax errors or mathematical anomalies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41345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 Semibold"/>
              </a:defRPr>
            </a:pPr>
            <a:r>
              <a:t>PROBLEM 02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Static Pipelines Miss Regime Shifts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Rigid statistical scripts cannot parse unstructured news or regulatory filings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Require weeks of manual feature engineering to add new market variables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Collapse during sudden liquidity shocks, geopolitical events, and policy pivots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Lack adversarial cross-examination to challenge stale model assumptions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1345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Segoe UI Semibold"/>
              </a:defRPr>
            </a:pPr>
            <a:r>
              <a:t>PROBLEM 03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High Costs with Zero Verifiable Track Record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Institutional teams spend 80% of analyst time on routine data scripting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No immutable benchmark to prove whether alpha comes from skill or luck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Expensive enterprise terminals provide raw feeds but zero automated synthesis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High human overhead ($250k+/yr per quantitative research analyst)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Strategic Pitch Deck • MVP 1 Specifications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CORE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The Solution: Hybrid Coding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Combining generative LLM reasoning with autonomous Python code execution and multi-participant modeling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0292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How Forecasting Agent Operates</a:t>
            </a:r>
          </a:p>
          <a:p>
            <a:pPr>
              <a:spcBef>
                <a:spcPts val="8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Autonomous Code Generation: Agents write executable Python code to engineer multi-series features, train regressors, and test lead-lag relationships.</a:t>
            </a:r>
          </a:p>
          <a:p>
            <a:pPr>
              <a:spcBef>
                <a:spcPts val="8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Two-Tier Docker Sandbox: Code runs in micro-sandboxes. Error tracebacks feed back into the agent's scratchpad for self-debugging before submission.</a:t>
            </a:r>
          </a:p>
          <a:p>
            <a:pPr>
              <a:spcBef>
                <a:spcPts val="8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Participant-Intent Modeling: 4 specialized agents simulate real Indian market participants (Price, FIIs, DIIs, and Retail) rather than single-agent guessing.</a:t>
            </a:r>
          </a:p>
          <a:p>
            <a:pPr>
              <a:spcBef>
                <a:spcPts val="8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Immutable Mathematical Oracle: An isolated evaluation package (M8) scores forecasts on ground-truth returns with zero lookahead bias.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542513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64592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5564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Price Anchor Agent • Baseline Statistical Anchor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ARIMA, Exponential Smoothing, and rolling volatility modeling.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788920"/>
            <a:ext cx="542513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78892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89864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FII Flow Agent • Foreign Institutional Intent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USD/INR FX pressure, US 10Y yields, and cross-border net flow trends.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931920"/>
            <a:ext cx="542513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393192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04164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DII Flow Agent • Domestic Institutional Intent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Mutual fund SIP inflows, sector rotation, and domestic liquidity absorption.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5074920"/>
            <a:ext cx="542513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507492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518464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Retail &amp; Sentiment Agent • Market Psychology &amp; Noise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Bhavcopy Delivery %, Put-Call Ratios, and FinBERT news headline decay.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Strategic Pitch Deck • MVP 1 Specifications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CONSENSUS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4-Round Adversarial Debate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Eliminating sycophancy and groupthink through structured multi-turn cross-examination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51460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Segoe UI Semibold"/>
              </a:defRPr>
            </a:pPr>
            <a:r>
              <a:t>ROUND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Independent Analysis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Each sub-agent runs isolated code scripts on multi-series feeds and emits an initial AgentSignal with quantitative evidence triples.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645920"/>
            <a:ext cx="251460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64208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Segoe UI Semibold"/>
              </a:defRPr>
            </a:pPr>
            <a:r>
              <a:t>ROUND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317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Cross-Examination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Agents review peer evidence. They write adversarial counter-scripts in Docker to challenge conflicting assumptions and test fragility.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51460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664208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Segoe UI Semibold"/>
              </a:defRPr>
            </a:pPr>
            <a:r>
              <a:t>ROUND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317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Devil's Advocate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Supervisor assigns the lowest-calibrated agent to aggressively attack the leading consensus thesis with hard counter-factuals.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6459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645920"/>
            <a:ext cx="2514600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664208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Segoe UI Semibold"/>
              </a:defRPr>
            </a:pPr>
            <a:r>
              <a:t>ROUND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3317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Arithmetic Consensus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Calculated in pure TypeScript code (NOT by LLM) using rolling 30-day Brier calibration weights. Emits calibrated scenario probabilities.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42432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 Semibold"/>
              </a:defRPr>
            </a:pPr>
            <a:r>
              <a:t>HARD ARCHITECTURAL RULE: Consensus is computed deterministically in code via Brier weights [15%, 40%] — NEVER by LLM vote or narrative averaging.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Strategic Pitch Deck • MVP 1 Specifications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SAFETY &amp; SANDBOXING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Two-Tier Sandbox &amp; Execution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Balancing rapid iterative modeling with clean-room zero-network mathematical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Tier 1: Warm Explore Sandbox</a:t>
            </a:r>
          </a:p>
          <a:p>
            <a:pPr>
              <a:spcBef>
                <a:spcPts val="2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Fast, iterative modeling &amp; self-debugging loop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Stateful Session: Agent writes Python code, inspects outputs, and iterates over 1-3 self-debug loops.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PyPI Access Enabled: Can import standard statistical &amp; ML libraries (pandas, scipy, statsmodels, xgboost).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Resource Boundaries: Hard cgroup limits: 512MB RAM, 1 CPU core, and 45s execution timeout.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Circular Ring Buffer: 50KB circular stdout/stderr buffer prevents terminal memory saturation.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4225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6936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Tier 2: Cold Validate Sandbox</a:t>
            </a:r>
          </a:p>
          <a:p>
            <a:pPr>
              <a:spcBef>
                <a:spcPts val="200"/>
              </a:spcBef>
              <a:defRPr sz="1100">
                <a:solidFill>
                  <a:srgbClr val="10B981"/>
                </a:solidFill>
                <a:latin typeface="Segoe UI"/>
              </a:defRPr>
            </a:pPr>
            <a:r>
              <a:t>Clean-room verification before score acceptance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Zero Network Access: Strict `--network=none` flag mathematically prevents any live internet data leakage.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Pristine Base Image: Fresh container spawn with zero residue or persistent state from previous runs.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Read-Only M8 Oracle: Evaluation logic is mounted read-only; agent code cannot tamper with scoring.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Concurrency Limiter: Worker pool enforced by `async-mutex` Semaphore(2), preventing server lockups.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Strategic Pitch Deck • MVP 1 Specifications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ORACLE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4-Layer Mathematical Evaluation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Immutable M8 package: Pure mathematical evaluation pipeline isolated from agent manipulation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9728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783080"/>
            <a:ext cx="109728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444"/>
                </a:solidFill>
                <a:latin typeface="Segoe UI Semibold"/>
              </a:defRPr>
            </a:pPr>
            <a:r>
              <a:t>Layer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737360"/>
            <a:ext cx="8961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Purged Walk-Forward CV &amp; Temporal Gate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Enforces mandatory embargo gap between train/test folds and validates strict `as_of` temporal indexing. If any lookahead data leakage is detected, the run is immediately marked INVALID.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2926080"/>
            <a:ext cx="109728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 Semibold"/>
              </a:defRPr>
            </a:pPr>
            <a:r>
              <a:t>Layer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880360"/>
            <a:ext cx="8961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Objective MASE on Realized Returns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Evaluates forecast against naive random-walk baseline. Mean Absolute Scaled Error must be &lt; 1.0; models &gt;= 1.0 are discarded as statistically indistinguishable from noise.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4069080"/>
            <a:ext cx="109728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 Semibold"/>
              </a:defRPr>
            </a:pPr>
            <a:r>
              <a:t>Layer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023360"/>
            <a:ext cx="8961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Brier Score &amp; Probabilistic Calibration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Measures whether 80% confidence forecasts actually win 80% of the time across 10 probability bins. Penalizes overconfident hallucinations heavily.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7492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5212080"/>
            <a:ext cx="109728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 Semibold"/>
              </a:defRPr>
            </a:pPr>
            <a:r>
              <a:t>Layer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166360"/>
            <a:ext cx="8961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Cost-Adjusted Sortino Ratio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Deducts realistic Indian equity and derivative transaction friction (STT: 0.1%, Stamp Duty: 0.015%, GST: 18%, Exchange fees: 0.00345%) to ensure real-world strategy viability.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Strategic Pitch Deck • MVP 1 Specifications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Offline Prompt Compilation &amp; Hydration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Algorithmic prompt optimization with Bayesian search and sub-millisecond production runtime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41345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 Semibold"/>
              </a:defRPr>
            </a:pPr>
            <a:r>
              <a:t>STAGE 01 • BAYESIAN INSTRUCTION SEARCH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Offline DSPy MIPROv2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Replaces manual prompt tweaking with algorithmic Bayesian optimization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Evaluates 20 candidate instructions across 50 trials on historical regimes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Optimizes few-shot exemplar selection directly on Brier calibration metric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One-time offline compilation cost: ~$0.48 on DeepSeek v4-flash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41345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Segoe UI Semibold"/>
              </a:defRPr>
            </a:pPr>
            <a:r>
              <a:t>STAGE 02 • IMMUTABLE TEMPLATE ARTIFACTS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Exported JSON Schemas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Compiled prompts saved as JSON artifacts in `prompts/compiled/`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Jinja2 template syntax shared seamlessly between Python &amp; Node.js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Strict semantic versioning (`price_anchor_v1.2.json`) for audit trails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Enables zero-downtime prompt rollback and live A/B benchmarking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1345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 Semibold"/>
              </a:defRPr>
            </a:pPr>
            <a:r>
              <a:t>STAGE 03 • ZERO-LATENCY HYDRATION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&lt; 1ms Nunjucks Runtime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TypeScript harness loads compiled JSON templates via Nunjucks in &lt; 1ms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Zero Python runtime dependency during live production inference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Maintains 90%+ prefix cache hit rate on DeepSeek API endpoint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Fail-safe fallback to raw `.j2` template if compiled artifact missing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Strategic Pitch Deck • MVP 1 Specifications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DATA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Data Ingestion &amp; Outlier Sanitization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Deterministic multi-asset pipeline built specifically for Indian equities, derivatives, and macro feeds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847088"/>
            <a:ext cx="9144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755648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Multi-Asset Ingestion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NSE/BSE equities, F&amp;O option chains, Bhavcopy delivery percentages, and USD/INR macro feeds ingested via Python MCP Server plugins.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2990088"/>
            <a:ext cx="9144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898648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Hampel Outlier Filter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Scipy rolling median filter detects &gt;3σ flash spikes, circuit-breaker price freezes, and data feed anomalies, tagging them in metadata.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133088"/>
            <a:ext cx="9144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041648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Calendar Alignment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Reconciles cross-asset trading calendars (e.g., US holiday market closures vs Indian trading sessions) with deterministic forward-fill.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5276088"/>
            <a:ext cx="91440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035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184648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Point-in-Time Guard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Mandatory `as_of` timestamp filter strictly prunes all observations occurring after the backtest cut-off, preventing lookahead leakage.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Strategic Pitch Deck • MVP 1 Specifications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SYSTEM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End-to-End System Execution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From query trigger to 1-page Executive Digest Card: Complete lifecycle of a forecast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9728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810512"/>
            <a:ext cx="548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 Semibold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55648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334155"/>
                </a:solidFill>
                <a:latin typeface="Segoe UI"/>
              </a:defRPr>
            </a:pPr>
            <a:r>
              <a:t>Trigger &amp; Handshake: CLI or Scheduled Cron initiates run. Parallel health probes verify DB, Redis, Docker, and MCP servers in &lt; 200ms.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10972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2724912"/>
            <a:ext cx="548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 Semibold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670048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334155"/>
                </a:solidFill>
                <a:latin typeface="Segoe UI"/>
              </a:defRPr>
            </a:pPr>
            <a:r>
              <a:t>Data &amp; Feature Prep: Multi-series feeds ingested, Hampel filter sanitizes anomalies, and sub-agents generate Python feature pipelines.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10972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639312"/>
            <a:ext cx="548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584448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334155"/>
                </a:solidFill>
                <a:latin typeface="Segoe UI"/>
              </a:defRPr>
            </a:pPr>
            <a:r>
              <a:t>4-Round Debate Loop: Agents execute models in explore sandbox, challenge peer claims, assign Devil's Advocate, and compute consensus.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109728" cy="8046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4553712"/>
            <a:ext cx="548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  <a:latin typeface="Segoe UI Semibold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498848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334155"/>
                </a:solidFill>
                <a:latin typeface="Segoe UI"/>
              </a:defRPr>
            </a:pPr>
            <a:r>
              <a:t>M8 Oracle Validation: Winning model scripts run in clean cold-tier container (`--network=none`). M8 computes MASE, Brier score, and Sortino.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303520"/>
            <a:ext cx="109728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5468112"/>
            <a:ext cx="548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 Semibold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413248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334155"/>
                </a:solidFill>
                <a:latin typeface="Segoe UI"/>
              </a:defRPr>
            </a:pPr>
            <a:r>
              <a:t>Executive Digest Card: 1-page decision card generated. 15-minute bar invalidation guardrail prevents false alarms on intraday liquidity wicks.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Strategic Pitch Deck • MVP 1 Specifications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ECONOMICS &amp; INFRA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Unit Economics &amp; Open-Source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Institutional-grade quantitative intelligence delivered at a marginal cost of under 2.5 cents per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Unit Cost Breakdown</a:t>
            </a:r>
          </a:p>
          <a:p>
            <a:pPr>
              <a:spcBef>
                <a:spcPts val="400"/>
              </a:spcBef>
              <a:defRPr sz="3600" b="1">
                <a:solidFill>
                  <a:srgbClr val="10B981"/>
                </a:solidFill>
                <a:latin typeface="Segoe UI Semibold"/>
              </a:defRPr>
            </a:pPr>
            <a:r>
              <a:t>$0.024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Total Marginal Cost per 4-Round Debate Run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LLM Inference (DeepSeek): 4 rounds x 4 agents = 16 turns (~65k prompt tokens, 8k output tokens) = $0.018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Docker Sandbox Compute: 0.2 CPU-hours of execution time = $0.004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News &amp; Web Scraping: Open-source DuckDuckGo &amp; FinBERT = $0.000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Storage &amp; Tracing: Postgres + Redis + Langfuse = $0.002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4225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6936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100% Open-Source Foundation</a:t>
            </a:r>
          </a:p>
          <a:p>
            <a:pPr>
              <a:spcBef>
                <a:spcPts val="2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Zero proprietary vendor lock-in; deployable on private enterprise VPCs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Orchestrator Layer: @langchain/langgraph &amp; TypeScript StateGraph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Data Protocol: Python Model Context Protocol (MCP) + yfinance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Compute Sandboxes: Docker Engine with cgroups memory isolation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Evaluation Core: scipy, statsmodels, pandas, scikit-learn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Observability: Langfuse Open-Source Tracing + UUIDv7 Hierarchy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Database &amp; Cache: PostgreSQL with temporal as_of indexing + Redis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Strategic Pitch Deck • MVP 1 Specifications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MARKET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Beyond Equities: Multi-Industry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The platform adapts: Financial forecasting is just the initial skill pack in an expanding enterprise ecosystem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514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Segoe UI Semibold"/>
              </a:defRPr>
            </a:pPr>
            <a:r>
              <a:t>PHASE 1 • INDIAN EQUITIES (MVP 1)</a:t>
            </a:r>
          </a:p>
          <a:p>
            <a:pPr>
              <a:spcBef>
                <a:spcPts val="300"/>
              </a:spcBef>
              <a:defRPr sz="1350" b="1">
                <a:solidFill>
                  <a:srgbClr val="0F172A"/>
                </a:solidFill>
                <a:latin typeface="Segoe UI Semibold"/>
              </a:defRPr>
            </a:pPr>
            <a:r>
              <a:t>Financial Markets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Nifty 50, Bank Nifty, and liquid F&amp;O equities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FII/DII liquidity and sentiment flow modeling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Daily 1-page Executive Digest Card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2514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Segoe UI Semibold"/>
              </a:defRPr>
            </a:pPr>
            <a:r>
              <a:t>PHASE 2 • DEMAND &amp; LEAD TIME</a:t>
            </a:r>
          </a:p>
          <a:p>
            <a:pPr>
              <a:spcBef>
                <a:spcPts val="300"/>
              </a:spcBef>
              <a:defRPr sz="1350" b="1">
                <a:solidFill>
                  <a:srgbClr val="0F172A"/>
                </a:solidFill>
                <a:latin typeface="Segoe UI Semibold"/>
              </a:defRPr>
            </a:pPr>
            <a:r>
              <a:t>Supply Chain &amp; Ops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Multi-echelon Bill of Materials (BOM) forecasting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Port congestion and supplier lead time variance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Warehouse safety stock and reorder point optimization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Segoe UI Semibold"/>
              </a:defRPr>
            </a:pPr>
            <a:r>
              <a:t>PHASE 3 • LOAD &amp; SPREAD FORECASTS</a:t>
            </a:r>
          </a:p>
          <a:p>
            <a:pPr>
              <a:spcBef>
                <a:spcPts val="300"/>
              </a:spcBef>
              <a:defRPr sz="1350" b="1">
                <a:solidFill>
                  <a:srgbClr val="0F172A"/>
                </a:solidFill>
                <a:latin typeface="Segoe UI Semibold"/>
              </a:defRPr>
            </a:pPr>
            <a:r>
              <a:t>Energy &amp; Commodities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Weather-adjusted renewable power grid load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Crude oil, diesel, and natural gas crack spreads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Carbon credit supply/demand equilibrium curves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645920"/>
            <a:ext cx="2514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74519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8B5CF6"/>
                </a:solidFill>
                <a:latin typeface="Segoe UI Semibold"/>
              </a:defRPr>
            </a:pPr>
            <a:r>
              <a:t>PHASE 4 • REVENUE &amp; CASH RUNWAY</a:t>
            </a:r>
          </a:p>
          <a:p>
            <a:pPr>
              <a:spcBef>
                <a:spcPts val="300"/>
              </a:spcBef>
              <a:defRPr sz="1350" b="1">
                <a:solidFill>
                  <a:srgbClr val="0F172A"/>
                </a:solidFill>
                <a:latin typeface="Segoe UI Semibold"/>
              </a:defRPr>
            </a:pPr>
            <a:r>
              <a:t>Enterprise FP&amp;A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Autonomous ERP connector ingestion (SAP/NetSuite)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ARR churn and expansion scenario modeling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Rolling 13-week operating cash flow forecasting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Strategic Pitch Deck • MVP 1 Specifications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14233C"/>
          </a:solidFill>
          <a:ln w="9525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EA5E9"/>
                </a:solidFill>
                <a:latin typeface="Segoe UI Semibold"/>
              </a:defRPr>
            </a:pPr>
            <a:r>
              <a:t>INVESTMENT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Why Forecasting Agent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Combining the rigor of quantitative finance with the flexibility of generative coding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42255" cy="1874519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972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01  Code Beats Chat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Agents write and execute real statistical Python code instead of guessing next-token probability distributions.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1874519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109728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02  Adversarial Calibration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4-round debate with dedicated Devil's Advocate role systematically eliminates herd bias and sycophancy.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242255" cy="1874519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109728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19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03  Immutable Ground Truth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M8 Oracle prevents overfitting, lookahead bias, and cheating via purged walk-forward cross-validation gates.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39"/>
            <a:ext cx="5242255" cy="1874519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49039"/>
            <a:ext cx="109728" cy="1874519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19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04  100x Cost Efficiency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At $0.024 per forecast run, institutional-grade multi-agent analysis is 100x cheaper than manual human labor.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42432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 Semibold"/>
              </a:defRPr>
            </a:pPr>
            <a:r>
              <a:t>MILESTONE STATUS: MVP 1 (Indian Equities) • 10 User Stories Tracked on GitHub • Target Alpha Release: v0.1.0-alpha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Forecasting Agent • Strategic Pitch Deck • MVP 1 Specifications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