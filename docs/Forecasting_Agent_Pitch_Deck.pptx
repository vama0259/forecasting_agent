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926080" cy="3657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009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96FF"/>
                </a:solidFill>
              </a:defRPr>
            </a:pPr>
            <a:r>
              <a:t>AUTONOMOUS CODING 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Forecasting Agent</a:t>
            </a:r>
          </a:p>
          <a:p>
            <a:pPr>
              <a:spcBef>
                <a:spcPts val="800"/>
              </a:spcBef>
              <a:defRPr sz="2200">
                <a:solidFill>
                  <a:srgbClr val="0096FF"/>
                </a:solidFill>
              </a:defRPr>
            </a:pPr>
            <a:r>
              <a:t>Claude Code for Financial Markets &amp; Enterprise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An autonomous multi-agent platform where specialized AI analysts write, execute, and stress-test custom Python models in secure Docker sandboxes — arriving at calibrated market consensus through 4 rounds of adversarial debate.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3383280" cy="12801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4-Round Adversarial Debate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Eliminates LLM hallucination &amp; herd bias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754880"/>
            <a:ext cx="3383280" cy="12801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48920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Two-Tier Docker Sandbox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Exploration with strict zero-network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754880"/>
            <a:ext cx="3383280" cy="12801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8920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Immutable Oracle (M8)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Mathematical ground-truth evaluation (MASE &amp; Brier)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The Financial Intelligence 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F4444"/>
                </a:solidFill>
              </a:defRPr>
            </a:pPr>
            <a:r>
              <a:t>1. BLACK-BOX LLMS HALLUCINATE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Chatbots Guess Direction Without Math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Large language models predict market moves from text alone without executing code.</a:t>
            </a:r>
            <a:br/>
            <a:r>
              <a:t>• Uncalibrated probabilistic confidence (90% confident on coin flips).</a:t>
            </a:r>
            <a:br/>
            <a:r>
              <a:t>• Cannot verify lookahead bias or data leakage in memory.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19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2. TRADITIONAL QUANTS ARE BRITTLE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Static Pipelines Miss Regime Shifts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Rigid statistical scripts cannot synthesize unstructured news, corporate filings, or FII/DII flow changes.</a:t>
            </a:r>
            <a:br/>
            <a:r>
              <a:t>• Require weeks of manual data engineering to add new features.</a:t>
            </a:r>
            <a:br/>
            <a:r>
              <a:t>• Fail during sudden market liquidity shocks and policy shifts.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45920"/>
            <a:ext cx="338328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874519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3. THE ENTERPRISE DILEMMA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Need Speed Without Giving Up Rigor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Portfolio managers, risk officers, and FP&amp;A teams spend 80% of their time writing repetitive analysis scripts.</a:t>
            </a:r>
            <a:br/>
            <a:r>
              <a:t>• No reproducible audit trail of why a forecast was made.</a:t>
            </a:r>
            <a:br/>
            <a:r>
              <a:t>• Lack of an immutable benchmark to prove forecasting skill.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PLATFORM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The Solution: Hybrid Coding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How Forecasting Agent Works</a:t>
            </a:r>
          </a:p>
          <a:p>
            <a:pPr>
              <a:spcBef>
                <a:spcPts val="800"/>
              </a:spcBef>
              <a:defRPr b="0" sz="1150">
                <a:solidFill>
                  <a:srgbClr val="0F172A"/>
                </a:solidFill>
              </a:defRPr>
            </a:pPr>
            <a:r>
              <a:t>• Autonomous Code Generation: Agents don't just speak English — they write real Python code to clean data, engineer multi-series features, and train models.</a:t>
            </a:r>
          </a:p>
          <a:p>
            <a:pPr>
              <a:spcBef>
                <a:spcPts val="800"/>
              </a:spcBef>
              <a:defRPr b="0" sz="1150">
                <a:solidFill>
                  <a:srgbClr val="0F172A"/>
                </a:solidFill>
              </a:defRPr>
            </a:pPr>
            <a:r>
              <a:t>• Isolated Docker Execution: Code runs in secure micro-sandboxes. If a model fails or hallucinates, the error trace feeds back to self-debug.</a:t>
            </a:r>
          </a:p>
          <a:p>
            <a:pPr>
              <a:spcBef>
                <a:spcPts val="800"/>
              </a:spcBef>
              <a:defRPr b="0" sz="1150">
                <a:solidFill>
                  <a:srgbClr val="0F172A"/>
                </a:solidFill>
              </a:defRPr>
            </a:pPr>
            <a:r>
              <a:t>• Multi-Participant Simulation: 4 specialized agents model Indian market forces: Price Action, FII Flows, DII Institutions, and Retail Sentiment.</a:t>
            </a:r>
          </a:p>
          <a:p>
            <a:pPr>
              <a:spcBef>
                <a:spcPts val="800"/>
              </a:spcBef>
              <a:defRPr b="0" sz="1150">
                <a:solidFill>
                  <a:srgbClr val="0F172A"/>
                </a:solidFill>
              </a:defRPr>
            </a:pPr>
            <a:r>
              <a:t>• Immutable Mathematical Oracle: An isolated M8 evaluation engine scores models on ground-truth returns with zero vendor cheating.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109728" cy="100584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55648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Price Anchor Agent — Baseline Statistical Anchor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</a:defRPr>
            </a:pPr>
            <a:r>
              <a:t>ARIMA, Exponential Smoothing, and rolling volatility modeling.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88920"/>
            <a:ext cx="52120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788920"/>
            <a:ext cx="109728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98648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FII Flow Agent — Foreign Institutional Intent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</a:defRPr>
            </a:pPr>
            <a:r>
              <a:t>USD/INR FX pressure, US 10Y yields, and cross-border net flow trends.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3931920"/>
            <a:ext cx="109728" cy="10058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41648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DII Flow Agent — Domestic Institutional Intent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</a:defRPr>
            </a:pPr>
            <a:r>
              <a:t>Mutual fund SIP inflows, sector rotation, and domestic liquidity absorption.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074920"/>
            <a:ext cx="52120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5074920"/>
            <a:ext cx="109728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5184648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Retail &amp; Sentiment Agent — Market Psychology &amp; Noise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</a:defRPr>
            </a:pPr>
            <a:r>
              <a:t>Bhavcopy Delivery %, Put-Call Ratios, and FinBERT news headline decay.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CONSENSUS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4-Round Adversarial Debate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14600" cy="64008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514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Independent Analysis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Each of the 4 sub-agents runs isolated code scripts on multi-series feeds and produces an initial AgentSignal with quantitative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514600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91640"/>
            <a:ext cx="2514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42316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Cross-Examination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Agents inspect peer evidence triples. They write counter-scripts in Docker to challenge conflicting assumptions and test fragility.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645920"/>
            <a:ext cx="251460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691640"/>
            <a:ext cx="2514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2316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Devil's Advocate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Supervisor assigns the lowest-calibrated agent to aggressively attack the leading consensus thesis with hard counter-factuals.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64592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645920"/>
            <a:ext cx="251460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691640"/>
            <a:ext cx="2514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42316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Arithmetic Consensus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Calculated in pure TypeScript code (NOT by LLM) using rolling 30-day Brier calibration weights. Emits calibrated scenario probabilities.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SAFETY &amp; COMPUTE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Two-Tier Sandbox &amp; Execution Safety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19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Tier 1: Warm Explore Sandbox</a:t>
            </a:r>
          </a:p>
          <a:p>
            <a:pPr>
              <a:spcBef>
                <a:spcPts val="200"/>
              </a:spcBef>
              <a:defRPr sz="1200">
                <a:solidFill>
                  <a:srgbClr val="0096FF"/>
                </a:solidFill>
              </a:defRPr>
            </a:pPr>
            <a:r>
              <a:t>Fast, iterative modeling &amp; self-debugging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Stateful Session: Agent writes Python code, inspects outputs, and iterates over 1-3 debug loops.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PyPI Access Allowed: Can import standard statistical &amp; ML libraries (pandas, scipy, statsmodels, xgboost).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Resource Bounds: Limited to 512MB RAM, 1 CPU cgroup, and 45s hard execution timeout.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Ring Buffer Logging: 50KB circular stdout/stderr buffer prevents terminal flooding.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Tier 2: Cold Validate Sandbox</a:t>
            </a:r>
          </a:p>
          <a:p>
            <a:pPr>
              <a:spcBef>
                <a:spcPts val="200"/>
              </a:spcBef>
              <a:defRPr sz="1200">
                <a:solidFill>
                  <a:srgbClr val="10B981"/>
                </a:solidFill>
              </a:defRPr>
            </a:pPr>
            <a:r>
              <a:t>Clean-room verification before score acceptance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Zero Network Access: Strict `--network=none` prevents any live internet data leakage.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Fresh Container Spawn: Spawns from a pristine base image with zero residue from exploration runs.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Read-Only M8 Oracle: Evaluation logic is mounted read-only; agent code cannot tamper with scoring.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Semaphore(2) Limiter: Worker pool allows max 2 concurrent containers, guaranteeing host stability.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ORACLE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4-Layer Mathematical Evaluation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37160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556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Layer 4: Validity Gate (Runs First) — Purged Walk-Forward CV &amp; Temporal Guard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</a:defRPr>
            </a:pPr>
            <a:r>
              <a:t>Enforces mandatory embargo gap between folds and validates strict `as_of` temporal indexing. If lookahead leakage is detected, the run is immediately rejected.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137160" cy="10515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986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Layer 1: Objective MASE on Returns — Mean Absolute Scaled Error (&lt; 1.0 = Skill)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</a:defRPr>
            </a:pPr>
            <a:r>
              <a:t>Evaluates forecast against naive random-walk baseline. Any model with MASE &gt;= 1.0 is discarded as statistically useless.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137160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Layer 2: Brier Score &amp; Calibration — Probabilistic Honesty &amp; Confidence Bins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</a:defRPr>
            </a:pPr>
            <a:r>
              <a:t>Measures whether 80% confidence forecasts actually win 80% of the time. Heavy penalty for overconfident hallucinations.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7492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074920"/>
            <a:ext cx="137160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1846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Layer 3: Cost-Adjusted Sortino — Net of Indian STT, GST, &amp; Exchange Fees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</a:defRPr>
            </a:pPr>
            <a:r>
              <a:t>Deducts Indian equity &amp; derivative transaction costs (STT: 0.1%, Stamp Duty: 0.015%, GST: 18%) to verify real-world profitability.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PROMPT ENGINEERING &amp;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Offline Prompt Compilation (DSPy MIPROv2)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73152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FF"/>
                </a:solidFill>
              </a:defRPr>
            </a:pPr>
            <a:r>
              <a:t>1. OFFLINE BAYESIAN OPTIMIZATION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DSPy MIPROv2 in Python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Replaces manual trial-and-error prompt writing with algorithmic optimization.</a:t>
            </a:r>
            <a:br/>
            <a:r>
              <a:t>• Evaluates 20 candidate prompt variants across 50 trials on historical Indian market regimes.</a:t>
            </a:r>
            <a:br/>
            <a:r>
              <a:t>• Optimizes few-shot exemplar selection directly on Brier score.</a:t>
            </a:r>
            <a:br/>
            <a:r>
              <a:t>• One-time compile cost: ~$0.48.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19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B5CF6"/>
                </a:solidFill>
              </a:defRPr>
            </a:pPr>
            <a:r>
              <a:t>2. EXPORTED JSON SCHEMA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Shared Template Artifacts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Compiled system instructions and exemplars are saved as immutable JSON schemas in `prompts/compiled/`.</a:t>
            </a:r>
            <a:br/>
            <a:r>
              <a:t>• Jinja2 syntax compatible with both Python &amp; Node.js.</a:t>
            </a:r>
            <a:br/>
            <a:r>
              <a:t>• Strict versioning (`price_anchor_v1.2.json`) enables audit trails and live A/B benchmarking.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4592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874519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3. &lt; 1MS ZERO-LATENCY RUNTIME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Nunjucks Hydration in TypeScript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TypeScript harness loads pre-compiled JSON schemas directly via Nunjucks.</a:t>
            </a:r>
            <a:br/>
            <a:r>
              <a:t>• Zero Python runtime dependency during live production inference.</a:t>
            </a:r>
            <a:br/>
            <a:r>
              <a:t>• Maximum throughput with 90%+ prefix cache hit rates on DeepSeek API.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DATA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Data Ingestion &amp; Outlier Sanitization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828800"/>
            <a:ext cx="640080" cy="640080"/>
          </a:xfrm>
          <a:prstGeom prst="round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47088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55648"/>
            <a:ext cx="9235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Step 1: Multi-Asset Ingestion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</a:defRPr>
            </a:pPr>
            <a:r>
              <a:t>NSE/BSE equities, F&amp;O option chains, USDINR macro feeds, and Bhavcopy delivery data ingested via Python MCP Server.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971800"/>
            <a:ext cx="640080" cy="640080"/>
          </a:xfrm>
          <a:prstGeom prst="round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90088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898648"/>
            <a:ext cx="9235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Step 2: Hampel Outlier Filter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</a:defRPr>
            </a:pPr>
            <a:r>
              <a:t>Scipy rolling median filter detects &gt;3σ flash spikes, circuit-breaker limit hits, and data feed glitches, flagging them cleanly.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40" y="4114800"/>
            <a:ext cx="640080" cy="640080"/>
          </a:xfrm>
          <a:prstGeom prst="round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33088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41648"/>
            <a:ext cx="9235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Step 3: Calendar Normalization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</a:defRPr>
            </a:pPr>
            <a:r>
              <a:t>Aligns cross-asset trading calendars (e.g. US trading holidays vs Indian trading hours) with forward-fill and gap reconciliation.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7492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5257800"/>
            <a:ext cx="640080" cy="640080"/>
          </a:xfrm>
          <a:prstGeom prst="round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276088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184648"/>
            <a:ext cx="9235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Step 4: Strict Point-in-Time Guard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</a:defRPr>
            </a:pPr>
            <a:r>
              <a:t>Mandatory `as_of` timestamp check strictly drops any data point after the backtest horizon, mathematically preventing lookahead leakage.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SYSTEM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End-to-End System Execution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9728" cy="804672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0" sz="1250">
                <a:solidFill>
                  <a:srgbClr val="0F172A"/>
                </a:solidFill>
              </a:defRPr>
            </a:pPr>
            <a:r>
              <a:t>1. User / Cron Trigger — CLI or Scheduled Cron requests forecast for symbol (e.g. RELIANCE.NS)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109728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0" sz="1250">
                <a:solidFill>
                  <a:srgbClr val="0F172A"/>
                </a:solidFill>
              </a:defRPr>
            </a:pPr>
            <a:r>
              <a:t>2. Startup Handshake — &lt; 200ms fail-fast verification of DB, Redis, Docker, and MCP servers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7472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474720"/>
            <a:ext cx="109728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6616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0" sz="1250">
                <a:solidFill>
                  <a:srgbClr val="0F172A"/>
                </a:solidFill>
              </a:defRPr>
            </a:pPr>
            <a:r>
              <a:t>3. Multi-Agent R1-R4 — 4 sub-agents write code, execute in sandbox, and debate over 4 rounds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389120"/>
            <a:ext cx="109728" cy="8046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48056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0" sz="1250">
                <a:solidFill>
                  <a:srgbClr val="0F172A"/>
                </a:solidFill>
              </a:defRPr>
            </a:pPr>
            <a:r>
              <a:t>4. M8 Oracle Gate — Read-only evaluation computes MASE, Brier score, and fee-adjusted Sortino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0352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303520"/>
            <a:ext cx="109728" cy="804672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39496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0" sz="1250">
                <a:solidFill>
                  <a:srgbClr val="0F172A"/>
                </a:solidFill>
              </a:defRPr>
            </a:pPr>
            <a:r>
              <a:t>5. Executive Digest Card — 1-page decision card generated with 15-minute bar invalidation guardrail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INFRASTRUCTURE &amp;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Unit Economics &amp; Open-Source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Forecast Run Unit Economics</a:t>
            </a:r>
          </a:p>
          <a:p>
            <a:pPr>
              <a:spcBef>
                <a:spcPts val="400"/>
              </a:spcBef>
              <a:defRPr sz="1400" b="1">
                <a:solidFill>
                  <a:srgbClr val="10B981"/>
                </a:solidFill>
              </a:defRPr>
            </a:pPr>
            <a:r>
              <a:t>$0.024 per Full 4-Round Forecast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DeepSeek v4-flash Inference: 4 rounds × 4 agents = 16 turns (~65k input tokens, 8k output tokens) = $0.018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Docker Sandbox Compute: 0.2 CPU-hours of execution time = $0.004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News &amp; Search (DuckDuckGo): $0.000 (Open-source scraping / zero API fee)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Total Marginal Cost: Less than 2.5 cents per comprehensive multi-agent 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100% Open-Source Foundation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Orchestrator: @langchain/langgraph &amp; TypeScript (StateGraph)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Data Server: FastAPI + Python Model Context Protocol (MCP)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Sandbox: Docker Engine with cgroup memory limits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Evaluation: scipy, statsmodels, pandas, and scikit-learn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Observability: Langfuse open-source tracing with UUIDv7 hierarchy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</a:defRPr>
            </a:pPr>
            <a:r>
              <a:t>• Storage: PostgreSQL with temporal `as_of` indexing + Redis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MARKET HORIZON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Beyond Equities: Multi-Industry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14600" cy="73152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148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Phase 1: Financial Markets</a:t>
            </a:r>
          </a:p>
          <a:p>
            <a:pPr>
              <a:spcBef>
                <a:spcPts val="300"/>
              </a:spcBef>
              <a:defRPr sz="1100" b="1">
                <a:solidFill>
                  <a:srgbClr val="0096FF"/>
                </a:solidFill>
              </a:defRPr>
            </a:pPr>
            <a:r>
              <a:t>Indian Equities &amp; Derivatives (MVP 1)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Nifty 50, Bank Nifty, and F&amp;O derivatives.</a:t>
            </a:r>
            <a:br/>
            <a:r>
              <a:t>• FII/DII liquidity flow modeling.</a:t>
            </a:r>
            <a:br/>
            <a:r>
              <a:t>• Daily executive digest delivery.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645920"/>
            <a:ext cx="2514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2148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Phase 2: Supply Chain &amp; Ops</a:t>
            </a:r>
          </a:p>
          <a:p>
            <a:pPr>
              <a:spcBef>
                <a:spcPts val="300"/>
              </a:spcBef>
              <a:defRPr sz="1100" b="1">
                <a:solidFill>
                  <a:srgbClr val="10B981"/>
                </a:solidFill>
              </a:defRPr>
            </a:pPr>
            <a:r>
              <a:t>Demand &amp; Lead Time Forecasting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Bill of materials (BOM) multi-echelon forecasting.</a:t>
            </a:r>
            <a:br/>
            <a:r>
              <a:t>• Port congestion and supplier lead time variance.</a:t>
            </a:r>
            <a:br/>
            <a:r>
              <a:t>• Warehouse safety stock optimization.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2148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Phase 3: Energy &amp; Commodities</a:t>
            </a:r>
          </a:p>
          <a:p>
            <a:pPr>
              <a:spcBef>
                <a:spcPts val="300"/>
              </a:spcBef>
              <a:defRPr sz="1100" b="1">
                <a:solidFill>
                  <a:srgbClr val="F59E0B"/>
                </a:solidFill>
              </a:defRPr>
            </a:pPr>
            <a:r>
              <a:t>Grid Load &amp; Commodity Price Shocks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Weather-adjusted renewable power generation.</a:t>
            </a:r>
            <a:br/>
            <a:r>
              <a:t>• Crude oil &amp; natural gas crack spread forecasting.</a:t>
            </a:r>
            <a:br/>
            <a:r>
              <a:t>• Carbon credit supply/demand equilibrium.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64592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61120" y="1645920"/>
            <a:ext cx="25146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874519"/>
            <a:ext cx="2148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Phase 4: Enterprise FP&amp;A</a:t>
            </a:r>
          </a:p>
          <a:p>
            <a:pPr>
              <a:spcBef>
                <a:spcPts val="300"/>
              </a:spcBef>
              <a:defRPr sz="1100" b="1">
                <a:solidFill>
                  <a:srgbClr val="8B5CF6"/>
                </a:solidFill>
              </a:defRPr>
            </a:pPr>
            <a:r>
              <a:t>Revenue, Churn &amp; Working Capital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Autonomous ERP connector integration (SAP/NetSuite).</a:t>
            </a:r>
            <a:br/>
            <a:r>
              <a:t>• ARR churn and runway scenario modeling.</a:t>
            </a:r>
            <a:br/>
            <a:r>
              <a:t>• Rolling 13-week cash flow forecasting.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96FF"/>
                </a:solidFill>
                <a:latin typeface="Calibri"/>
              </a:defRPr>
            </a:pPr>
            <a:r>
              <a:t>INVESTMENT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Calibri"/>
              </a:defRPr>
            </a:pPr>
            <a:r>
              <a:t>Why Forecasting Agent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9728" cy="201168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1. Code Beats Chat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Agents write and execute real statistical Python code instead of guessing token probabilities.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2. Adversarial Calibration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4-round debate with hard Devil's Advocate role eliminates groupthink and sycophancy.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109728" cy="2011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3. Immutable Ground Truth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M8 Oracle prevents overfitting, lookahead bias, and cheating via purged walk-forward gates.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3931920"/>
            <a:ext cx="109728" cy="20116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4. Extreme Cost Efficiency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At $0.024 per forecast run, enterprise-grade multi-agent intelligence is 100x cheaper than manual analyst labor.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